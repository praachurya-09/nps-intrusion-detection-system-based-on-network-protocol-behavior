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77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19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22860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" y="4983480"/>
            <a:ext cx="8924544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" y="771629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INTRUSION DETECTION SYSTEM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28600" y="1254619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Network Protocol Behavior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73569" y="1723074"/>
            <a:ext cx="4572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Shape 7"/>
          <p:cNvSpPr/>
          <p:nvPr/>
        </p:nvSpPr>
        <p:spPr>
          <a:xfrm>
            <a:off x="1254545" y="2073703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7B2FBE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54545" y="2073703"/>
            <a:ext cx="1920240" cy="332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Network Security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30817" y="2058697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7B2FBE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430817" y="2058697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Anomaly Detection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93898" y="2058697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7B2FBE">
              <a:alpha val="7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5693898" y="20471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Protocol Analysis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067908" y="2571750"/>
            <a:ext cx="4108939" cy="108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- 2410040008 - TALLA SUNNY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- 2410040009 – VARAGANTI PRAACHURYA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 - 2410040010 - MORLA HEMANTH VENKATA SAI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- 2410040135 - KALLEPALLY AKHILA</a:t>
            </a:r>
          </a:p>
        </p:txBody>
      </p:sp>
      <p:pic>
        <p:nvPicPr>
          <p:cNvPr id="102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C3898A6-E21A-C274-4F35-8B1447096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0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943" y="0"/>
            <a:ext cx="9144000" cy="685800"/>
          </a:xfrm>
          <a:prstGeom prst="rect">
            <a:avLst/>
          </a:prstGeom>
          <a:solidFill>
            <a:srgbClr val="E53935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: </a:t>
            </a:r>
            <a:r>
              <a:rPr lang="en-US" dirty="0">
                <a:solidFill>
                  <a:schemeClr val="bg1"/>
                </a:solidFill>
              </a:rPr>
              <a:t>Intrusion Detection System Based on Network Protocol Behavior </a:t>
            </a:r>
            <a:r>
              <a:rPr lang="en-US" sz="12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141E4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68680"/>
            <a:ext cx="64008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</a:rPr>
              <a:t>Modern enterprise networks transmit millions of packets per second across diverse protocols (TCP, UDP, HTTP, DNS, FTP, SMTP). Traditional firewalls and signature-based IDS fail to detect zero-day attacks, protocol misuse, and sophisticated APTs. There is a critical need for an intelligent system that monitors protocol behavior patterns to detect anomalies and intrusions in real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2011680"/>
            <a:ext cx="2743200" cy="141732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01168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21305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Volume &amp; Velocity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4048" y="249631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</a:rPr>
              <a:t>Networks generate TB of traffic daily — manual analysis is impossible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2011680"/>
            <a:ext cx="2743200" cy="141732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2011680"/>
            <a:ext cx="274320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21305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Evasion Techniques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10128" y="249631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</a:rPr>
              <a:t>Attackers craft packets that bypass signature-based detection rules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2011680"/>
            <a:ext cx="2743200" cy="141732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2011680"/>
            <a:ext cx="274320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9" name="Text 16"/>
          <p:cNvSpPr/>
          <p:nvPr/>
        </p:nvSpPr>
        <p:spPr>
          <a:xfrm>
            <a:off x="6236208" y="21305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Zero-Day Threats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36208" y="249631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</a:rPr>
              <a:t>Unknown attacks have no signatures; behavior analysis is essential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3657600"/>
            <a:ext cx="1965960" cy="1143000"/>
          </a:xfrm>
          <a:prstGeom prst="rect">
            <a:avLst/>
          </a:prstGeom>
          <a:solidFill>
            <a:srgbClr val="0F1A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3657600"/>
            <a:ext cx="196596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3.5B+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74320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4"/>
                </a:solidFill>
              </a:rPr>
              <a:t>Cyber attacks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4"/>
                </a:solidFill>
              </a:rPr>
              <a:t>in 2023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423160" y="3657600"/>
            <a:ext cx="1965960" cy="1143000"/>
          </a:xfrm>
          <a:prstGeom prst="rect">
            <a:avLst/>
          </a:prstGeom>
          <a:solidFill>
            <a:srgbClr val="0F1A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423160" y="3657600"/>
            <a:ext cx="196596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4"/>
          <p:cNvSpPr/>
          <p:nvPr/>
        </p:nvSpPr>
        <p:spPr>
          <a:xfrm>
            <a:off x="242316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280 days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2423160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4"/>
                </a:solidFill>
              </a:rPr>
              <a:t>Avg. breach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4"/>
                </a:solidFill>
              </a:rPr>
              <a:t>detection time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0" y="3657600"/>
            <a:ext cx="1965960" cy="1143000"/>
          </a:xfrm>
          <a:prstGeom prst="rect">
            <a:avLst/>
          </a:prstGeom>
          <a:solidFill>
            <a:srgbClr val="0F1A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0" y="3657600"/>
            <a:ext cx="196596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4572000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4"/>
                </a:solidFill>
              </a:rPr>
              <a:t>Protocol-based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4"/>
                </a:solidFill>
              </a:rPr>
              <a:t>attack vectors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720840" y="3657600"/>
            <a:ext cx="1965960" cy="1143000"/>
          </a:xfrm>
          <a:prstGeom prst="rect">
            <a:avLst/>
          </a:prstGeom>
          <a:solidFill>
            <a:srgbClr val="0F1A4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720840" y="3657600"/>
            <a:ext cx="196596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2"/>
          <p:cNvSpPr/>
          <p:nvPr/>
        </p:nvSpPr>
        <p:spPr>
          <a:xfrm>
            <a:off x="672084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$4.45M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720840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4"/>
                </a:solidFill>
              </a:rPr>
              <a:t>Avg. data breach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4"/>
                </a:solidFill>
              </a:rPr>
              <a:t>cost (2023)</a:t>
            </a:r>
            <a:endParaRPr lang="en-US" sz="1000" dirty="0"/>
          </a:p>
        </p:txBody>
      </p:sp>
      <p:pic>
        <p:nvPicPr>
          <p:cNvPr id="37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FC7A214C-E383-02DA-5F0B-C0B6DC99F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0" y="77121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NETWORK PROTOCOL BEHAVIOR?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68680"/>
            <a:ext cx="64008" cy="3931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</a:rPr>
              <a:t>Protocol Behavior Analysis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</a:rPr>
              <a:t>Network protocol behavior refers to the characteristic patterns of how protocols operate under normal conditions — including packet size distributions, connection frequency, timing intervals, header field values, and session durations.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Normal vs. Anomalous Behavior: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" y="2743200"/>
            <a:ext cx="3657600" cy="41148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7797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DNS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27797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53"/>
                </a:solidFill>
              </a:rPr>
              <a:t>≤ 512 bytes queries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487168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</a:rPr>
              <a:t>DNS tunneling (large payloads)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4048" y="3227832"/>
            <a:ext cx="3657600" cy="41148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2644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HTTP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60120" y="3264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53"/>
                </a:solidFill>
              </a:rPr>
              <a:t>Standard header fields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487168" y="3264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</a:rPr>
              <a:t>Malformed headers / injection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84048" y="3712464"/>
            <a:ext cx="3657600" cy="41148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749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ICMP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6012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53"/>
                </a:solidFill>
              </a:rPr>
              <a:t>Ping replies ≤ 64 bytes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487168" y="3749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</a:rPr>
              <a:t>ICMP flood or covert channel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4048" y="4197096"/>
            <a:ext cx="3657600" cy="41148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2336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TCP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60120" y="4233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53"/>
                </a:solidFill>
              </a:rPr>
              <a:t>3-way handshake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487168" y="4233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</a:rPr>
              <a:t>SYN flood / half-open connections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BE"/>
                </a:solidFill>
              </a:rPr>
              <a:t>Protocol Layers Monitored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800600" y="1417320"/>
            <a:ext cx="3886200" cy="658368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30" name="Shape 27"/>
          <p:cNvSpPr/>
          <p:nvPr/>
        </p:nvSpPr>
        <p:spPr>
          <a:xfrm>
            <a:off x="4800600" y="1417320"/>
            <a:ext cx="54864" cy="65836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1" name="Text 28"/>
          <p:cNvSpPr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Layer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937760" y="1755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HTTP, DNS, FTP, SMTP, SSH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800600" y="2240280"/>
            <a:ext cx="3886200" cy="658368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34" name="Shape 31"/>
          <p:cNvSpPr/>
          <p:nvPr/>
        </p:nvSpPr>
        <p:spPr>
          <a:xfrm>
            <a:off x="4800600" y="2240280"/>
            <a:ext cx="54864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2"/>
          <p:cNvSpPr/>
          <p:nvPr/>
        </p:nvSpPr>
        <p:spPr>
          <a:xfrm>
            <a:off x="493776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Transport Layer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937760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TCP, UDP — ports, flags, seq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800600" y="3063240"/>
            <a:ext cx="3886200" cy="658368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38" name="Shape 35"/>
          <p:cNvSpPr/>
          <p:nvPr/>
        </p:nvSpPr>
        <p:spPr>
          <a:xfrm>
            <a:off x="4800600" y="3063240"/>
            <a:ext cx="54864" cy="658368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9" name="Text 36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 Layer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937760" y="3401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IP, ICMP — addresses, TTL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800600" y="3886200"/>
            <a:ext cx="3886200" cy="658368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42" name="Shape 39"/>
          <p:cNvSpPr/>
          <p:nvPr/>
        </p:nvSpPr>
        <p:spPr>
          <a:xfrm>
            <a:off x="4800600" y="3886200"/>
            <a:ext cx="54864" cy="65836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3" name="Text 40"/>
          <p:cNvSpPr/>
          <p:nvPr/>
        </p:nvSpPr>
        <p:spPr>
          <a:xfrm>
            <a:off x="49377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Link Layer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937760" y="4224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ARP, MAC flooding detection</a:t>
            </a:r>
            <a:endParaRPr lang="en-US" sz="950" dirty="0"/>
          </a:p>
        </p:txBody>
      </p:sp>
      <p:pic>
        <p:nvPicPr>
          <p:cNvPr id="45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DD06BAA7-9B62-B773-0ECC-70DE8C088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020" y="1382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7B2FB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914400"/>
            <a:ext cx="1463040" cy="201168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914400"/>
            <a:ext cx="146304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024128"/>
            <a:ext cx="457200" cy="45720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4320" y="1581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Capture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2608" y="2029968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Raw traffic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capture via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libpcap/WinPcap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691640" y="1828800"/>
            <a:ext cx="292608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1892808" y="1709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984248" y="914400"/>
            <a:ext cx="1463040" cy="201168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984248" y="914400"/>
            <a:ext cx="1463040" cy="64008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6" name="Shape 13"/>
          <p:cNvSpPr/>
          <p:nvPr/>
        </p:nvSpPr>
        <p:spPr>
          <a:xfrm>
            <a:off x="2487168" y="1024128"/>
            <a:ext cx="457200" cy="457200"/>
          </a:xfrm>
          <a:prstGeom prst="ellipse">
            <a:avLst/>
          </a:prstGeom>
          <a:solidFill>
            <a:srgbClr val="0097A7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487168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029968" y="1581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Protocol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Parser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048256" y="2029968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Header extraction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&amp; field analysis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per protocol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447288" y="1828800"/>
            <a:ext cx="292608" cy="4572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1" name="Text 18"/>
          <p:cNvSpPr/>
          <p:nvPr/>
        </p:nvSpPr>
        <p:spPr>
          <a:xfrm>
            <a:off x="3648456" y="1709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739896" y="914400"/>
            <a:ext cx="1463040" cy="201168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739896" y="914400"/>
            <a:ext cx="146304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4" name="Shape 21"/>
          <p:cNvSpPr/>
          <p:nvPr/>
        </p:nvSpPr>
        <p:spPr>
          <a:xfrm>
            <a:off x="4242816" y="1024128"/>
            <a:ext cx="457200" cy="457200"/>
          </a:xfrm>
          <a:prstGeom prst="ellipse">
            <a:avLst/>
          </a:prstGeom>
          <a:solidFill>
            <a:srgbClr val="7B2FBE">
              <a:alpha val="8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242816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785616" y="1581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803904" y="2029968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Statistical features: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packet rate, size,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inter-arrival time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202936" y="1828800"/>
            <a:ext cx="292608" cy="457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9" name="Text 26"/>
          <p:cNvSpPr/>
          <p:nvPr/>
        </p:nvSpPr>
        <p:spPr>
          <a:xfrm>
            <a:off x="5404104" y="1709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2FBE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95544" y="914400"/>
            <a:ext cx="1463040" cy="201168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495544" y="914400"/>
            <a:ext cx="146304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Shape 29"/>
          <p:cNvSpPr/>
          <p:nvPr/>
        </p:nvSpPr>
        <p:spPr>
          <a:xfrm>
            <a:off x="5998464" y="1024128"/>
            <a:ext cx="457200" cy="457200"/>
          </a:xfrm>
          <a:prstGeom prst="ellipse">
            <a:avLst/>
          </a:prstGeom>
          <a:solidFill>
            <a:srgbClr val="FF6B35">
              <a:alpha val="8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5998464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541264" y="1581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Behavior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Analyzer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59552" y="2029968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ML model classifies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normal vs anomaly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patterns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958584" y="1828800"/>
            <a:ext cx="292608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4"/>
          <p:cNvSpPr/>
          <p:nvPr/>
        </p:nvSpPr>
        <p:spPr>
          <a:xfrm>
            <a:off x="7159752" y="17099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35"/>
                </a:solidFill>
              </a:rPr>
              <a:t>▶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251192" y="914400"/>
            <a:ext cx="1463040" cy="201168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251192" y="914400"/>
            <a:ext cx="1463040" cy="6400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0" name="Shape 37"/>
          <p:cNvSpPr/>
          <p:nvPr/>
        </p:nvSpPr>
        <p:spPr>
          <a:xfrm>
            <a:off x="7754112" y="1024128"/>
            <a:ext cx="457200" cy="457200"/>
          </a:xfrm>
          <a:prstGeom prst="ellipse">
            <a:avLst/>
          </a:prstGeom>
          <a:solidFill>
            <a:srgbClr val="E53935">
              <a:alpha val="8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754112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296912" y="1581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315200" y="2029968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Real-time alerts,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logs &amp; automated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4"/>
                </a:solidFill>
              </a:rPr>
              <a:t>block/quarantine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28600" y="3063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4D4"/>
                </a:solidFill>
              </a:rPr>
              <a:t>NETWORK TRAFFIC DATA FLOW →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28600" y="3429000"/>
            <a:ext cx="1463040" cy="457200"/>
          </a:xfrm>
          <a:prstGeom prst="rect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22860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Network TAP / SPAN Port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984248" y="3429000"/>
            <a:ext cx="1463040" cy="457200"/>
          </a:xfrm>
          <a:prstGeom prst="rect">
            <a:avLst/>
          </a:prstGeom>
          <a:solidFill>
            <a:srgbClr val="0097A7">
              <a:alpha val="3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1984248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Protocol State Machine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3739896" y="3429000"/>
            <a:ext cx="1463040" cy="457200"/>
          </a:xfrm>
          <a:prstGeom prst="rect">
            <a:avLst/>
          </a:prstGeom>
          <a:solidFill>
            <a:srgbClr val="7B2FBE">
              <a:alpha val="3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3739896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Flow Table (NetFlow/IPFIX)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495544" y="3429000"/>
            <a:ext cx="1463040" cy="457200"/>
          </a:xfrm>
          <a:prstGeom prst="rect">
            <a:avLst/>
          </a:prstGeom>
          <a:solidFill>
            <a:srgbClr val="FF6B35">
              <a:alpha val="30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5495544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Random Forest / LSTM Model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251192" y="3429000"/>
            <a:ext cx="1463040" cy="457200"/>
          </a:xfrm>
          <a:prstGeom prst="rect">
            <a:avLst/>
          </a:prstGeom>
          <a:solidFill>
            <a:srgbClr val="E53935">
              <a:alpha val="30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7251192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SIEM Integration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228600" y="39776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C4D4"/>
                </a:solidFill>
              </a:rPr>
              <a:t>Sub-Module Components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28600" y="4343400"/>
            <a:ext cx="8686800" cy="50292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57" name="Shape 54"/>
          <p:cNvSpPr/>
          <p:nvPr/>
        </p:nvSpPr>
        <p:spPr>
          <a:xfrm>
            <a:off x="228600" y="4343400"/>
            <a:ext cx="54864" cy="502920"/>
          </a:xfrm>
          <a:prstGeom prst="rect">
            <a:avLst/>
          </a:prstGeom>
          <a:solidFill>
            <a:srgbClr val="00FF9F"/>
          </a:solidFill>
          <a:ln/>
        </p:spPr>
      </p:sp>
      <p:sp>
        <p:nvSpPr>
          <p:cNvPr id="58" name="Text 55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4D4"/>
                </a:solidFill>
              </a:rPr>
              <a:t>Feedback Loop: Alert triggers update the behavioral baseline models, improving detection accuracy continuously over time (adaptive learning)</a:t>
            </a:r>
            <a:endParaRPr lang="en-US" sz="1000" dirty="0"/>
          </a:p>
        </p:txBody>
      </p:sp>
      <p:pic>
        <p:nvPicPr>
          <p:cNvPr id="59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72D612C8-8D0C-FF5F-1D21-F4F35EBD4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020" y="0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FF9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PROBLEM-SOLVING PROCESS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2880" y="868680"/>
            <a:ext cx="4297680" cy="1261872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868680"/>
            <a:ext cx="64008" cy="12618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Shape 5"/>
          <p:cNvSpPr/>
          <p:nvPr/>
        </p:nvSpPr>
        <p:spPr>
          <a:xfrm>
            <a:off x="301752" y="941832"/>
            <a:ext cx="411480" cy="411480"/>
          </a:xfrm>
          <a:prstGeom prst="ellipse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01752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941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Data Collection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13075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Capture live traffic using packet sniffers (Wireshark, tcpdump)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2960" y="1563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Use public datasets: CICIDS2017, NSL-KDD, UNSW-NB15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2960" y="18196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Mirror traffic via SPAN port or network TAP device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82880" y="2286000"/>
            <a:ext cx="4297680" cy="1261872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2880" y="2286000"/>
            <a:ext cx="64008" cy="126187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6" name="Shape 13"/>
          <p:cNvSpPr/>
          <p:nvPr/>
        </p:nvSpPr>
        <p:spPr>
          <a:xfrm>
            <a:off x="301752" y="2359152"/>
            <a:ext cx="411480" cy="411480"/>
          </a:xfrm>
          <a:prstGeom prst="ellipse">
            <a:avLst/>
          </a:prstGeom>
          <a:solidFill>
            <a:srgbClr val="0097A7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01752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23591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</a:rPr>
              <a:t>Protocol Parsing &amp; Feature Extraction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272491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Parse packet headers for each protocol layer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2960" y="29809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Extract 80+ features: packet length, TTL, flags, inter-arrival time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22960" y="32369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Compute flow-level statistics (mean, std deviation, burst rate)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82880" y="3703320"/>
            <a:ext cx="4297680" cy="1261872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82880" y="3703320"/>
            <a:ext cx="64008" cy="126187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4" name="Shape 21"/>
          <p:cNvSpPr/>
          <p:nvPr/>
        </p:nvSpPr>
        <p:spPr>
          <a:xfrm>
            <a:off x="301752" y="3776472"/>
            <a:ext cx="411480" cy="411480"/>
          </a:xfrm>
          <a:prstGeom prst="ellipse">
            <a:avLst/>
          </a:prstGeom>
          <a:solidFill>
            <a:srgbClr val="7B2FBE">
              <a:alpha val="8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301752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" y="37764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</a:rPr>
              <a:t>Baseline Profiling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2960" y="414223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Record normal protocol behavior during a clean observation window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22960" y="43982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Build statistical profiles: mean ± 3σ thresholds per protocol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22960" y="465429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Generate connection graphs showing typical communication patterns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663440" y="868680"/>
            <a:ext cx="4297680" cy="1261872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63440" y="868680"/>
            <a:ext cx="64008" cy="12618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Shape 29"/>
          <p:cNvSpPr/>
          <p:nvPr/>
        </p:nvSpPr>
        <p:spPr>
          <a:xfrm>
            <a:off x="4782312" y="941832"/>
            <a:ext cx="411480" cy="411480"/>
          </a:xfrm>
          <a:prstGeom prst="ellipse">
            <a:avLst/>
          </a:prstGeom>
          <a:solidFill>
            <a:srgbClr val="FF6B35">
              <a:alpha val="8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4782312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303520" y="941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Anomaly Detection &amp; Classification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303520" y="13075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Apply ML models: Isolation Forest, Random Forest, LSTM, Autoencoder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303520" y="1563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Compare live traffic features against established baseline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303520" y="18196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Multi-class classification: DoS, Port Scan, Brute Force, Data Exfil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663440" y="2286000"/>
            <a:ext cx="4297680" cy="1261872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663440" y="2286000"/>
            <a:ext cx="64008" cy="126187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0" name="Shape 37"/>
          <p:cNvSpPr/>
          <p:nvPr/>
        </p:nvSpPr>
        <p:spPr>
          <a:xfrm>
            <a:off x="4782312" y="2359152"/>
            <a:ext cx="411480" cy="411480"/>
          </a:xfrm>
          <a:prstGeom prst="ellipse">
            <a:avLst/>
          </a:prstGeom>
          <a:solidFill>
            <a:srgbClr val="E53935">
              <a:alpha val="8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4782312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303520" y="23591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</a:rPr>
              <a:t>Alert Generation &amp; Response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303520" y="272491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Generate scored alerts with confidence levels (High/Medium/Low)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303520" y="29809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Integrate with SIEM for centralized monitoring and correlation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5303520" y="32369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›  Automated response: firewall rule push, session termination, quarantine</a:t>
            </a:r>
            <a:endParaRPr lang="en-US" sz="950" dirty="0"/>
          </a:p>
        </p:txBody>
      </p:sp>
      <p:pic>
        <p:nvPicPr>
          <p:cNvPr id="46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D9DD6E89-C8D8-E60F-77E3-8A0BF3A7A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020" y="1382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TECHNIQUES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868680"/>
            <a:ext cx="4206240" cy="393192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868680"/>
            <a:ext cx="420624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ANOMALY-BASED DETECTION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13167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4D4"/>
                </a:solidFill>
              </a:rPr>
              <a:t>Learns normal behavior, flags deviations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664208"/>
            <a:ext cx="3977640" cy="658368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1664208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71907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Statistical Thresholding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199339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Flags traffic exceeding μ±3σ bounds per protocol metric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423160"/>
            <a:ext cx="3977640" cy="658368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5" name="Shape 12"/>
          <p:cNvSpPr/>
          <p:nvPr/>
        </p:nvSpPr>
        <p:spPr>
          <a:xfrm>
            <a:off x="320040" y="242316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47802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Isolation Forest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27523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Tree-based ensemble that isolates anomalous flows efficiently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3182112"/>
            <a:ext cx="3977640" cy="658368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19" name="Shape 16"/>
          <p:cNvSpPr/>
          <p:nvPr/>
        </p:nvSpPr>
        <p:spPr>
          <a:xfrm>
            <a:off x="320040" y="3182112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2369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Autoencoder (Deep Learning)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51129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Neural net that detects high reconstruction error as anomaly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0040" y="3941064"/>
            <a:ext cx="3977640" cy="658368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3" name="Shape 20"/>
          <p:cNvSpPr/>
          <p:nvPr/>
        </p:nvSpPr>
        <p:spPr>
          <a:xfrm>
            <a:off x="320040" y="3941064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99592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 Time Series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27024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Captures temporal patterns in packet sequences for detection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63440" y="868680"/>
            <a:ext cx="4206240" cy="182880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868680"/>
            <a:ext cx="4206240" cy="64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</a:rPr>
              <a:t>SIGNATURE-BASED DETECTION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754880" y="13167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4D4"/>
                </a:solidFill>
              </a:rPr>
              <a:t>Matches against known attack patterns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✓  Snort/Suricata rules for protocol violations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54880" y="1938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✓  Regex patterns on DNS query anomalies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54880" y="2249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✓  CVE-mapped attack fingerprints library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2834640"/>
            <a:ext cx="4206240" cy="1965960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63440" y="2834640"/>
            <a:ext cx="4206240" cy="64008"/>
          </a:xfrm>
          <a:prstGeom prst="rect">
            <a:avLst/>
          </a:prstGeom>
          <a:solidFill>
            <a:srgbClr val="00FF9F"/>
          </a:solidFill>
          <a:ln/>
        </p:spPr>
      </p:sp>
      <p:sp>
        <p:nvSpPr>
          <p:cNvPr id="35" name="Text 32"/>
          <p:cNvSpPr/>
          <p:nvPr/>
        </p:nvSpPr>
        <p:spPr>
          <a:xfrm>
            <a:off x="4754880" y="2926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F"/>
                </a:solidFill>
              </a:rPr>
              <a:t>HYBRID APPROACH (Best Practice)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337560"/>
          <a:ext cx="4023360" cy="13258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Anomaly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Signature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Hybrid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8C4D4"/>
                          </a:solidFill>
                        </a:rPr>
                        <a:t>Zero-day detection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53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53935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53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8C4D4"/>
                          </a:solidFill>
                        </a:rPr>
                        <a:t>Low false positives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8C4D4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53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53"/>
                          </a:solidFill>
                        </a:rPr>
                        <a:t>Best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8C4D4"/>
                          </a:solidFill>
                        </a:rPr>
                        <a:t>Known attack speed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8C4D4"/>
                          </a:solidFill>
                        </a:rPr>
                        <a:t>Slower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8C4D4"/>
                          </a:solidFill>
                        </a:rPr>
                        <a:t>Fast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8C4D4"/>
                          </a:solidFill>
                        </a:rPr>
                        <a:t>Fast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7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D5A1DF6F-6391-C666-F4C5-9F5C1194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724" y="36576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&amp; RESULTS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868680"/>
            <a:ext cx="4206240" cy="1417320"/>
          </a:xfrm>
          <a:prstGeom prst="rect">
            <a:avLst/>
          </a:prstGeom>
          <a:solidFill>
            <a:srgbClr val="141E45"/>
          </a:solidFill>
          <a:ln/>
        </p:spPr>
      </p:sp>
      <p:sp>
        <p:nvSpPr>
          <p:cNvPr id="7" name="Shape 4"/>
          <p:cNvSpPr/>
          <p:nvPr/>
        </p:nvSpPr>
        <p:spPr>
          <a:xfrm>
            <a:off x="228600" y="868680"/>
            <a:ext cx="42062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9509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1316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C4D4"/>
                </a:solidFill>
              </a:rPr>
              <a:t>Language: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34440" y="13167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F"/>
                </a:solidFill>
              </a:rPr>
              <a:t>Python 3.10, Scapy, PyShark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0040" y="15453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C4D4"/>
                </a:solidFill>
              </a:rPr>
              <a:t>ML Library: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234440" y="15453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F"/>
                </a:solidFill>
              </a:rPr>
              <a:t>Scikit-learn, TensorFlow/Keras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0040" y="1773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C4D4"/>
                </a:solidFill>
              </a:rPr>
              <a:t>Dataset: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34440" y="17739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F"/>
                </a:solidFill>
              </a:rPr>
              <a:t>CICIDS2017 (2.8M flows)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20040" y="20025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C4D4"/>
                </a:solidFill>
              </a:rPr>
              <a:t>Deployment: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234440" y="20025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F"/>
                </a:solidFill>
              </a:rPr>
              <a:t>Docker container + Kafka stream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63440" y="868680"/>
            <a:ext cx="4206240" cy="1417320"/>
          </a:xfrm>
          <a:prstGeom prst="rect">
            <a:avLst/>
          </a:prstGeom>
          <a:solidFill>
            <a:srgbClr val="141E45"/>
          </a:solidFill>
          <a:ln/>
        </p:spPr>
      </p:sp>
      <p:sp>
        <p:nvSpPr>
          <p:cNvPr id="18" name="Shape 15"/>
          <p:cNvSpPr/>
          <p:nvPr/>
        </p:nvSpPr>
        <p:spPr>
          <a:xfrm>
            <a:off x="4663440" y="868680"/>
            <a:ext cx="420624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9509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</a:rPr>
              <a:t>Model Performance (CICIDS2017)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13167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4D4"/>
                </a:solidFill>
              </a:rPr>
              <a:t>Accuracy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77840" y="1344168"/>
            <a:ext cx="2527036" cy="14630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2" name="Text 19"/>
          <p:cNvSpPr/>
          <p:nvPr/>
        </p:nvSpPr>
        <p:spPr>
          <a:xfrm>
            <a:off x="8150596" y="13167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53"/>
                </a:solidFill>
              </a:rPr>
              <a:t>98.7%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54880" y="15453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4D4"/>
                </a:solidFill>
              </a:rPr>
              <a:t>Precision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77840" y="1572768"/>
            <a:ext cx="2488631" cy="1463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2"/>
          <p:cNvSpPr/>
          <p:nvPr/>
        </p:nvSpPr>
        <p:spPr>
          <a:xfrm>
            <a:off x="8112191" y="15453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</a:rPr>
              <a:t>97.2%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54880" y="1773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4D4"/>
                </a:solidFill>
              </a:rPr>
              <a:t>Recall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77840" y="1801368"/>
            <a:ext cx="2511674" cy="14630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8" name="Text 25"/>
          <p:cNvSpPr/>
          <p:nvPr/>
        </p:nvSpPr>
        <p:spPr>
          <a:xfrm>
            <a:off x="8135234" y="17739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FBE"/>
                </a:solidFill>
              </a:rPr>
              <a:t>98.1%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54880" y="2002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4D4"/>
                </a:solidFill>
              </a:rPr>
              <a:t>F1 Score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577840" y="2029968"/>
            <a:ext cx="2498872" cy="14630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1" name="Text 28"/>
          <p:cNvSpPr/>
          <p:nvPr/>
        </p:nvSpPr>
        <p:spPr>
          <a:xfrm>
            <a:off x="8122432" y="20025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7A7"/>
                </a:solidFill>
              </a:rPr>
              <a:t>97.6%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28600" y="2423160"/>
            <a:ext cx="8641080" cy="2423160"/>
          </a:xfrm>
          <a:prstGeom prst="rect">
            <a:avLst/>
          </a:prstGeom>
          <a:solidFill>
            <a:srgbClr val="141E45"/>
          </a:solidFill>
          <a:ln/>
        </p:spPr>
      </p:sp>
      <p:sp>
        <p:nvSpPr>
          <p:cNvPr id="33" name="Shape 30"/>
          <p:cNvSpPr/>
          <p:nvPr/>
        </p:nvSpPr>
        <p:spPr>
          <a:xfrm>
            <a:off x="228600" y="2423160"/>
            <a:ext cx="86410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1"/>
          <p:cNvSpPr/>
          <p:nvPr/>
        </p:nvSpPr>
        <p:spPr>
          <a:xfrm>
            <a:off x="365760" y="250545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Attack Detection Rates by Category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2004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DoS/DDoS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508760" y="3035808"/>
            <a:ext cx="2809128" cy="23774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7" name="Shape 34"/>
          <p:cNvSpPr/>
          <p:nvPr/>
        </p:nvSpPr>
        <p:spPr>
          <a:xfrm>
            <a:off x="1508760" y="3035808"/>
            <a:ext cx="2834640" cy="237744"/>
          </a:xfrm>
          <a:prstGeom prst="rect">
            <a:avLst/>
          </a:prstGeom>
          <a:solidFill>
            <a:srgbClr val="E53935">
              <a:alpha val="25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4416552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</a:rPr>
              <a:t>99.1%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20040" y="3493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Port Scan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508760" y="3602736"/>
            <a:ext cx="2792120" cy="23774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1" name="Shape 38"/>
          <p:cNvSpPr/>
          <p:nvPr/>
        </p:nvSpPr>
        <p:spPr>
          <a:xfrm>
            <a:off x="1508760" y="3602736"/>
            <a:ext cx="2834640" cy="237744"/>
          </a:xfrm>
          <a:prstGeom prst="rect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4416552" y="3493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98.5%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20040" y="40599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Brute Force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508760" y="4169664"/>
            <a:ext cx="2743932" cy="23774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45" name="Shape 42"/>
          <p:cNvSpPr/>
          <p:nvPr/>
        </p:nvSpPr>
        <p:spPr>
          <a:xfrm>
            <a:off x="1508760" y="4169664"/>
            <a:ext cx="2834640" cy="237744"/>
          </a:xfrm>
          <a:prstGeom prst="rect">
            <a:avLst/>
          </a:prstGeom>
          <a:solidFill>
            <a:srgbClr val="7B2FBE">
              <a:alpha val="25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4416552" y="4059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96.8%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66344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SQL Injection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852160" y="3035808"/>
            <a:ext cx="2698577" cy="2377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9" name="Shape 46"/>
          <p:cNvSpPr/>
          <p:nvPr/>
        </p:nvSpPr>
        <p:spPr>
          <a:xfrm>
            <a:off x="5852160" y="3035808"/>
            <a:ext cx="2834640" cy="237744"/>
          </a:xfrm>
          <a:prstGeom prst="rect">
            <a:avLst/>
          </a:prstGeom>
          <a:solidFill>
            <a:srgbClr val="FF6B35">
              <a:alpha val="25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8759952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</a:rPr>
              <a:t>95.2%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663440" y="3493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DNS Tunneling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852160" y="3602736"/>
            <a:ext cx="2656058" cy="23774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3" name="Shape 50"/>
          <p:cNvSpPr/>
          <p:nvPr/>
        </p:nvSpPr>
        <p:spPr>
          <a:xfrm>
            <a:off x="5852160" y="3602736"/>
            <a:ext cx="2834640" cy="237744"/>
          </a:xfrm>
          <a:prstGeom prst="rect">
            <a:avLst/>
          </a:prstGeom>
          <a:solidFill>
            <a:srgbClr val="0097A7">
              <a:alpha val="25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8759952" y="3493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</a:rPr>
              <a:t>93.7%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663440" y="40599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4D4"/>
                </a:solidFill>
              </a:rPr>
              <a:t>Botnet C&amp;C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5852160" y="4169664"/>
            <a:ext cx="2590861" cy="23774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7" name="Shape 54"/>
          <p:cNvSpPr/>
          <p:nvPr/>
        </p:nvSpPr>
        <p:spPr>
          <a:xfrm>
            <a:off x="5852160" y="4169664"/>
            <a:ext cx="2834640" cy="237744"/>
          </a:xfrm>
          <a:prstGeom prst="rect">
            <a:avLst/>
          </a:prstGeom>
          <a:solidFill>
            <a:srgbClr val="00C853">
              <a:alpha val="25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8759952" y="4059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</a:rPr>
              <a:t>91.4%</a:t>
            </a:r>
            <a:endParaRPr lang="en-US" sz="1000" dirty="0"/>
          </a:p>
        </p:txBody>
      </p:sp>
      <p:pic>
        <p:nvPicPr>
          <p:cNvPr id="59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3BE7B36E-64EA-5E0A-23A8-C0A5DDA4C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724" y="13113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FUTURE WORK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896112"/>
            <a:ext cx="4206240" cy="1261872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896112"/>
            <a:ext cx="64008" cy="126187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9692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</a:rPr>
              <a:t>⚠  High False Positive Rate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35331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Anomaly detection over-alerts on legitimate unusual traffic. Tuning thresholds requires domain expertise.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896112"/>
            <a:ext cx="4206240" cy="1261872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96112"/>
            <a:ext cx="64008" cy="12618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9692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🔒  Encrypted Traffic Analysis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135331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TLS 1.3 / QUIC encryption hides payload; must rely on metadata and timing features only.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" y="2313432"/>
            <a:ext cx="4206240" cy="1261872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8600" y="2313432"/>
            <a:ext cx="64008" cy="126187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23865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</a:rPr>
              <a:t>⚡  Real-Time Processing Load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277063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Processing 10Gbps+ links requires hardware acceleration (DPDK, FPGA) to avoid packet drops.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2313432"/>
            <a:ext cx="4206240" cy="1261872"/>
          </a:xfrm>
          <a:prstGeom prst="rect">
            <a:avLst/>
          </a:prstGeom>
          <a:solidFill>
            <a:srgbClr val="141E4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2313432"/>
            <a:ext cx="64008" cy="126187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23865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</a:rPr>
              <a:t>📊  Dataset Imbalance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277063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4D4"/>
                </a:solidFill>
              </a:rPr>
              <a:t>Attack samples are rare; SMOTE, GAN-based augmentation needed to balance training data.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28600" y="3794760"/>
            <a:ext cx="8641080" cy="1097280"/>
          </a:xfrm>
          <a:prstGeom prst="rect">
            <a:avLst/>
          </a:prstGeom>
          <a:solidFill>
            <a:srgbClr val="0F1A40"/>
          </a:solidFill>
          <a:ln/>
        </p:spPr>
      </p:sp>
      <p:sp>
        <p:nvSpPr>
          <p:cNvPr id="23" name="Shape 20"/>
          <p:cNvSpPr/>
          <p:nvPr/>
        </p:nvSpPr>
        <p:spPr>
          <a:xfrm>
            <a:off x="228600" y="3794760"/>
            <a:ext cx="64008" cy="1097280"/>
          </a:xfrm>
          <a:prstGeom prst="rect">
            <a:avLst/>
          </a:prstGeom>
          <a:solidFill>
            <a:srgbClr val="00FF9F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F"/>
                </a:solidFill>
              </a:rPr>
              <a:t>🚀  Future Research Directions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→  Federated Learning for privacy-preserving distributed IDS deployment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66344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→  Graph Neural Networks for mapping attack lateral movement across hosts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6576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→  LLM-powered alert explanation and automated remediation playbooks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66344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4D4"/>
                </a:solidFill>
              </a:rPr>
              <a:t>→  5G/IoT protocol behavior profiling for edge network intrusion detection</a:t>
            </a:r>
            <a:endParaRPr lang="en-US" sz="950" dirty="0"/>
          </a:p>
        </p:txBody>
      </p:sp>
      <p:pic>
        <p:nvPicPr>
          <p:cNvPr id="29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8F0F7E55-924B-EBF1-C5A2-9AFDF76D9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860" y="56246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" y="-107442"/>
            <a:ext cx="9144000" cy="5143500"/>
          </a:xfrm>
          <a:prstGeom prst="rect">
            <a:avLst/>
          </a:prstGeom>
          <a:solidFill>
            <a:srgbClr val="080C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" y="0"/>
            <a:ext cx="8924544" cy="54864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" y="5088636"/>
            <a:ext cx="8924544" cy="54864"/>
          </a:xfrm>
          <a:prstGeom prst="rect">
            <a:avLst/>
          </a:prstGeom>
          <a:solidFill>
            <a:srgbClr val="7B2FBE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28600" y="17830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2743200" y="2441448"/>
            <a:ext cx="36576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2606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  Protocol behavior analysis detects both known and zero-day attacks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29900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✓  Hybrid detection achieves 98.7% accuracy on real network datasets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337413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  System integrates seamlessly into existing SIEM / SOC workflows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71600" y="37581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4D4"/>
                </a:solidFill>
              </a:rPr>
              <a:t>✓  Adaptive learning continuously improves detection without retraining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D4FF"/>
                </a:solidFill>
              </a:rPr>
              <a:t>"Behavior never lies — every attacker leaves a protocol fingerprint."</a:t>
            </a:r>
            <a:endParaRPr lang="en-US" sz="1300" dirty="0"/>
          </a:p>
        </p:txBody>
      </p:sp>
      <p:pic>
        <p:nvPicPr>
          <p:cNvPr id="15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23886A7D-27AD-578A-0CED-65F1ACA8B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020" y="1382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5831F5AB-801E-BB12-0837-375CB298CEA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5BDCABAF-722B-F1D4-53BF-8D5F0ED6FBA3}"/>
              </a:ext>
            </a:extLst>
          </p:cNvPr>
          <p:cNvSpPr/>
          <p:nvPr/>
        </p:nvSpPr>
        <p:spPr>
          <a:xfrm>
            <a:off x="109728" y="0"/>
            <a:ext cx="9034272" cy="5143500"/>
          </a:xfrm>
          <a:prstGeom prst="rect">
            <a:avLst/>
          </a:prstGeom>
          <a:solidFill>
            <a:srgbClr val="080C1F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		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		</a:t>
            </a:r>
            <a:r>
              <a:rPr lang="en-US" sz="4800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4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FF5946C9-DDD0-5710-DA32-D24CF8723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860" y="56246"/>
            <a:ext cx="833980" cy="47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563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1002</Words>
  <Application>Microsoft Office PowerPoint</Application>
  <PresentationFormat>On-screen Show (16:9)</PresentationFormat>
  <Paragraphs>225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Intrusion Detection System Based on Network Protocol Behavior</dc:title>
  <dc:subject>PptxGenJS Presentation</dc:subject>
  <dc:creator>IDS Research</dc:creator>
  <cp:lastModifiedBy>Hemanth Morla</cp:lastModifiedBy>
  <cp:revision>3</cp:revision>
  <dcterms:created xsi:type="dcterms:W3CDTF">2026-04-08T19:31:40Z</dcterms:created>
  <dcterms:modified xsi:type="dcterms:W3CDTF">2026-04-08T19:51:04Z</dcterms:modified>
</cp:coreProperties>
</file>